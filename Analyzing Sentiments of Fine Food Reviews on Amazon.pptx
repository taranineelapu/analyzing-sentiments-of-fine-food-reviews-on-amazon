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GillSans-bold.fntdata"/><Relationship Id="rId12" Type="http://schemas.openxmlformats.org/officeDocument/2006/relationships/slide" Target="slides/slide6.xml"/><Relationship Id="rId23" Type="http://schemas.openxmlformats.org/officeDocument/2006/relationships/font" Target="fonts/GillSans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7e1f3b5c7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7e1f3b5c7_2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7e1f3b5c7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7e1f3b5c7_2_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7e1f3b5c7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e7e1f3b5c7_2_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e1f3b5c7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7e1f3b5c7_2_1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7e1f3b5c7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7e1f3b5c7_2_1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7e1f3b5c7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7e1f3b5c7_2_1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7e1f3b5c7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7e1f3b5c7_2_1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7e1f3b5c7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7e1f3b5c7_2_1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7e1f3b5c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7e1f3b5c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7e1f3b5c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7e1f3b5c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7e1f3b5c7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7e1f3b5c7_2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7e1f3b5c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7e1f3b5c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7e1f3b5c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7e1f3b5c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7e1f3b5c7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7e1f3b5c7_2_1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7e1f3b5c7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e7e1f3b5c7_2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7e1f3b5c7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e7e1f3b5c7_2_2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582930" y="1369219"/>
            <a:ext cx="799433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582930" y="1282304"/>
            <a:ext cx="7927658" cy="20691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582930" y="3442097"/>
            <a:ext cx="7927658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582930" y="1369219"/>
            <a:ext cx="393192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582930" y="273844"/>
            <a:ext cx="7933611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582930" y="1351359"/>
            <a:ext cx="3915251" cy="70127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582930" y="2119312"/>
            <a:ext cx="3915251" cy="252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3" type="body"/>
          </p:nvPr>
        </p:nvSpPr>
        <p:spPr>
          <a:xfrm>
            <a:off x="4629150" y="1351359"/>
            <a:ext cx="3887391" cy="70127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" name="Google Shape;104;p18"/>
          <p:cNvSpPr txBox="1"/>
          <p:nvPr>
            <p:ph idx="4" type="body"/>
          </p:nvPr>
        </p:nvSpPr>
        <p:spPr>
          <a:xfrm>
            <a:off x="4629150" y="2119312"/>
            <a:ext cx="3887391" cy="252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582930" y="342900"/>
            <a:ext cx="2996089" cy="18764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Gill Sans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887391" y="342901"/>
            <a:ext cx="4629150" cy="405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582930" y="2319338"/>
            <a:ext cx="2996089" cy="20824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1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582930" y="342900"/>
            <a:ext cx="2996089" cy="187909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Gill Sans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2"/>
          <p:cNvSpPr/>
          <p:nvPr>
            <p:ph idx="2" type="pic"/>
          </p:nvPr>
        </p:nvSpPr>
        <p:spPr>
          <a:xfrm>
            <a:off x="3887391" y="342901"/>
            <a:ext cx="4629150" cy="4052888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582930" y="2310956"/>
            <a:ext cx="2996089" cy="20848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8" name="Google Shape;128;p22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 rot="5400000">
            <a:off x="2948345" y="-996196"/>
            <a:ext cx="3263504" cy="79943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1" y="-1"/>
            <a:ext cx="9144001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-1" y="-1"/>
            <a:ext cx="9144001" cy="514350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3" name="Google Shape;53;p13"/>
          <p:cNvGrpSpPr/>
          <p:nvPr/>
        </p:nvGrpSpPr>
        <p:grpSpPr>
          <a:xfrm>
            <a:off x="-1" y="-1"/>
            <a:ext cx="9144001" cy="5143501"/>
            <a:chOff x="-1" y="-1"/>
            <a:chExt cx="12192001" cy="6858001"/>
          </a:xfrm>
        </p:grpSpPr>
        <p:sp>
          <p:nvSpPr>
            <p:cNvPr id="54" name="Google Shape;54;p13"/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rgbClr val="E2DBAE">
                <a:alpha val="50196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196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rgbClr val="EEBA8E">
                <a:alpha val="50196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196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rgbClr val="D4CB85">
                <a:alpha val="72156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7843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rgbClr val="F9E7D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rgbClr val="ADE4C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11642244" y="6317718"/>
              <a:ext cx="549756" cy="540282"/>
            </a:xfrm>
            <a:custGeom>
              <a:rect b="b" l="l" r="r" t="t"/>
              <a:pathLst>
                <a:path extrusionOk="0" h="2079100" w="2115556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rgbClr val="ADE4C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-1" y="-1"/>
              <a:ext cx="510196" cy="538336"/>
            </a:xfrm>
            <a:custGeom>
              <a:rect b="b" l="l" r="r" t="t"/>
              <a:pathLst>
                <a:path extrusionOk="0" h="538336" w="51019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rgbClr val="F9E7D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10528695" y="1"/>
              <a:ext cx="554074" cy="282754"/>
            </a:xfrm>
            <a:custGeom>
              <a:rect b="b" l="l" r="r" t="t"/>
              <a:pathLst>
                <a:path extrusionOk="0" h="157771" w="309162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rgbClr val="9FD58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2051348" y="5576515"/>
              <a:ext cx="137603" cy="210490"/>
            </a:xfrm>
            <a:custGeom>
              <a:rect b="b" l="l" r="r" t="t"/>
              <a:pathLst>
                <a:path extrusionOk="0" h="210490" w="137603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rgbClr val="D3DDB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582930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3028950" y="4866201"/>
            <a:ext cx="30861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6519863" y="4866201"/>
            <a:ext cx="2057400" cy="174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  <a:defRPr b="0" i="0" sz="41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582930" y="1369219"/>
            <a:ext cx="799433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67E44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67E4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67E44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67E44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67E44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-1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9" name="Google Shape;149;p25"/>
          <p:cNvPicPr preferRelativeResize="0"/>
          <p:nvPr/>
        </p:nvPicPr>
        <p:blipFill rotWithShape="1">
          <a:blip r:embed="rId3">
            <a:alphaModFix amt="40000"/>
          </a:blip>
          <a:srcRect b="16585" l="0" r="6" t="8401"/>
          <a:stretch/>
        </p:blipFill>
        <p:spPr>
          <a:xfrm>
            <a:off x="1144" y="8"/>
            <a:ext cx="9141713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5"/>
          <p:cNvGrpSpPr/>
          <p:nvPr/>
        </p:nvGrpSpPr>
        <p:grpSpPr>
          <a:xfrm>
            <a:off x="235576" y="177256"/>
            <a:ext cx="8505535" cy="4098022"/>
            <a:chOff x="314102" y="236341"/>
            <a:chExt cx="11340713" cy="5464029"/>
          </a:xfrm>
        </p:grpSpPr>
        <p:sp>
          <p:nvSpPr>
            <p:cNvPr id="151" name="Google Shape;151;p25"/>
            <p:cNvSpPr/>
            <p:nvPr/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7843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5"/>
            <p:cNvSpPr/>
            <p:nvPr/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rgbClr val="8AB47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5"/>
            <p:cNvSpPr/>
            <p:nvPr/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rgbClr val="D4CB85">
                <a:alpha val="72156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5"/>
            <p:cNvSpPr/>
            <p:nvPr/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5"/>
            <p:cNvSpPr/>
            <p:nvPr/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5"/>
            <p:cNvSpPr/>
            <p:nvPr/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rgbClr val="F4D1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5"/>
            <p:cNvSpPr/>
            <p:nvPr/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25"/>
          <p:cNvSpPr txBox="1"/>
          <p:nvPr>
            <p:ph type="ctrTitle"/>
          </p:nvPr>
        </p:nvSpPr>
        <p:spPr>
          <a:xfrm>
            <a:off x="1082844" y="1284932"/>
            <a:ext cx="5788666" cy="173187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Gill Sans"/>
              <a:buNone/>
            </a:pPr>
            <a:r>
              <a:rPr lang="en-GB">
                <a:solidFill>
                  <a:srgbClr val="FFFFFF"/>
                </a:solidFill>
              </a:rPr>
              <a:t>Analyzing Sentiments of Fine Food Reviews on Amazon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0" name="Google Shape;160;p25"/>
          <p:cNvSpPr txBox="1"/>
          <p:nvPr>
            <p:ph idx="1" type="subTitle"/>
          </p:nvPr>
        </p:nvSpPr>
        <p:spPr>
          <a:xfrm>
            <a:off x="5227387" y="4076218"/>
            <a:ext cx="5297804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Tarani Rupa Neelapu</a:t>
            </a:r>
            <a:endParaRPr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COMPSCI 715 Programming for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C8CED3">
              <a:alpha val="30196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26"/>
          <p:cNvSpPr txBox="1"/>
          <p:nvPr>
            <p:ph type="title"/>
          </p:nvPr>
        </p:nvSpPr>
        <p:spPr>
          <a:xfrm>
            <a:off x="2495791" y="351241"/>
            <a:ext cx="4337103" cy="187040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Gill Sans"/>
              <a:buNone/>
            </a:pPr>
            <a:r>
              <a:rPr lang="en-GB" sz="3300"/>
              <a:t>Table of Contents</a:t>
            </a:r>
            <a:br>
              <a:rPr lang="en-GB" sz="3300"/>
            </a:br>
            <a:endParaRPr sz="3300"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2495791" y="2239663"/>
            <a:ext cx="4337103" cy="2306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Introduction</a:t>
            </a:r>
            <a:endParaRPr/>
          </a:p>
          <a:p>
            <a:pPr indent="-177800" lvl="0" marL="1778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800"/>
              <a:buChar char="•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endParaRPr/>
          </a:p>
          <a:p>
            <a:pPr indent="-177800" lvl="0" marL="1778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800"/>
              <a:buChar char="•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Results and Evaluation</a:t>
            </a:r>
            <a:endParaRPr/>
          </a:p>
          <a:p>
            <a:pPr indent="-177800" lvl="0" marL="1778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800"/>
              <a:buChar char="•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Conclusion</a:t>
            </a:r>
            <a:endParaRPr/>
          </a:p>
          <a:p>
            <a:pPr indent="-177800" lvl="0" marL="1778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800"/>
              <a:buChar char="•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Future Work</a:t>
            </a:r>
            <a:endParaRPr/>
          </a:p>
        </p:txBody>
      </p:sp>
      <p:grpSp>
        <p:nvGrpSpPr>
          <p:cNvPr id="169" name="Google Shape;169;p26"/>
          <p:cNvGrpSpPr/>
          <p:nvPr/>
        </p:nvGrpSpPr>
        <p:grpSpPr>
          <a:xfrm>
            <a:off x="575613" y="177256"/>
            <a:ext cx="8008343" cy="3197217"/>
            <a:chOff x="767484" y="236341"/>
            <a:chExt cx="10677791" cy="4262956"/>
          </a:xfrm>
        </p:grpSpPr>
        <p:sp>
          <p:nvSpPr>
            <p:cNvPr id="170" name="Google Shape;170;p26"/>
            <p:cNvSpPr/>
            <p:nvPr/>
          </p:nvSpPr>
          <p:spPr>
            <a:xfrm>
              <a:off x="1249767" y="3283228"/>
              <a:ext cx="226735" cy="226735"/>
            </a:xfrm>
            <a:prstGeom prst="ellipse">
              <a:avLst/>
            </a:prstGeom>
            <a:solidFill>
              <a:srgbClr val="D4CB8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8413359" y="386135"/>
              <a:ext cx="466441" cy="466441"/>
            </a:xfrm>
            <a:prstGeom prst="ellipse">
              <a:avLst/>
            </a:prstGeom>
            <a:solidFill>
              <a:srgbClr val="E2DBA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8290699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767484" y="2755518"/>
              <a:ext cx="466441" cy="466441"/>
            </a:xfrm>
            <a:prstGeom prst="ellipse">
              <a:avLst/>
            </a:prstGeom>
            <a:solidFill>
              <a:srgbClr val="E9EEE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11331908" y="3813254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10775095" y="3592374"/>
              <a:ext cx="305780" cy="305780"/>
            </a:xfrm>
            <a:prstGeom prst="ellipse">
              <a:avLst/>
            </a:prstGeom>
            <a:solidFill>
              <a:srgbClr val="F4D1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10494104" y="4385930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6"/>
          <p:cNvSpPr/>
          <p:nvPr/>
        </p:nvSpPr>
        <p:spPr>
          <a:xfrm>
            <a:off x="397856" y="229475"/>
            <a:ext cx="1538498" cy="1538498"/>
          </a:xfrm>
          <a:prstGeom prst="ellipse">
            <a:avLst/>
          </a:prstGeom>
          <a:solidFill>
            <a:srgbClr val="E9EED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299" y="239774"/>
            <a:ext cx="1528200" cy="15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/>
          <p:nvPr/>
        </p:nvSpPr>
        <p:spPr>
          <a:xfrm>
            <a:off x="7108935" y="0"/>
            <a:ext cx="2049817" cy="1767973"/>
          </a:xfrm>
          <a:custGeom>
            <a:rect b="b" l="l" r="r" t="t"/>
            <a:pathLst>
              <a:path extrusionOk="0" h="2753222" w="3192131">
                <a:moveTo>
                  <a:pt x="288659" y="0"/>
                </a:moveTo>
                <a:lnTo>
                  <a:pt x="3192131" y="0"/>
                </a:lnTo>
                <a:lnTo>
                  <a:pt x="3192131" y="2058956"/>
                </a:lnTo>
                <a:lnTo>
                  <a:pt x="3158043" y="2104541"/>
                </a:lnTo>
                <a:cubicBezTo>
                  <a:pt x="2831098" y="2500707"/>
                  <a:pt x="2336311" y="2753222"/>
                  <a:pt x="1782545" y="2753222"/>
                </a:cubicBezTo>
                <a:cubicBezTo>
                  <a:pt x="798073" y="2753222"/>
                  <a:pt x="0" y="1955149"/>
                  <a:pt x="0" y="970677"/>
                </a:cubicBezTo>
                <a:cubicBezTo>
                  <a:pt x="0" y="663030"/>
                  <a:pt x="77937" y="373585"/>
                  <a:pt x="215144" y="121011"/>
                </a:cubicBezTo>
                <a:close/>
              </a:path>
            </a:pathLst>
          </a:custGeom>
          <a:solidFill>
            <a:srgbClr val="DEF1D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 rotWithShape="1">
          <a:blip r:embed="rId4">
            <a:alphaModFix/>
          </a:blip>
          <a:srcRect b="17441" l="18631" r="23362" t="30907"/>
          <a:stretch/>
        </p:blipFill>
        <p:spPr>
          <a:xfrm>
            <a:off x="7180181" y="-3245"/>
            <a:ext cx="2001110" cy="178192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/>
          <p:nvPr/>
        </p:nvSpPr>
        <p:spPr>
          <a:xfrm rot="-5400000">
            <a:off x="-479682" y="3051432"/>
            <a:ext cx="2186079" cy="1226715"/>
          </a:xfrm>
          <a:custGeom>
            <a:rect b="b" l="l" r="r" t="t"/>
            <a:pathLst>
              <a:path extrusionOk="0" h="2474031" w="4408870">
                <a:moveTo>
                  <a:pt x="18128" y="0"/>
                </a:moveTo>
                <a:lnTo>
                  <a:pt x="4390742" y="0"/>
                </a:lnTo>
                <a:lnTo>
                  <a:pt x="4397489" y="44205"/>
                </a:lnTo>
                <a:cubicBezTo>
                  <a:pt x="4405015" y="118312"/>
                  <a:pt x="4408870" y="193504"/>
                  <a:pt x="4408870" y="269596"/>
                </a:cubicBezTo>
                <a:cubicBezTo>
                  <a:pt x="4408870" y="1487072"/>
                  <a:pt x="3421911" y="2474031"/>
                  <a:pt x="2204435" y="2474031"/>
                </a:cubicBezTo>
                <a:cubicBezTo>
                  <a:pt x="986959" y="2474031"/>
                  <a:pt x="0" y="1487072"/>
                  <a:pt x="0" y="269596"/>
                </a:cubicBezTo>
                <a:cubicBezTo>
                  <a:pt x="0" y="193504"/>
                  <a:pt x="3855" y="118312"/>
                  <a:pt x="11381" y="44205"/>
                </a:cubicBezTo>
                <a:close/>
              </a:path>
            </a:pathLst>
          </a:custGeom>
          <a:solidFill>
            <a:srgbClr val="F9E7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6"/>
          <p:cNvPicPr preferRelativeResize="0"/>
          <p:nvPr/>
        </p:nvPicPr>
        <p:blipFill rotWithShape="1">
          <a:blip r:embed="rId5">
            <a:alphaModFix/>
          </a:blip>
          <a:srcRect b="12942" l="45737" r="12288" t="12146"/>
          <a:stretch/>
        </p:blipFill>
        <p:spPr>
          <a:xfrm>
            <a:off x="0" y="2556776"/>
            <a:ext cx="1224908" cy="218607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/>
          <p:nvPr/>
        </p:nvSpPr>
        <p:spPr>
          <a:xfrm>
            <a:off x="7496092" y="3296439"/>
            <a:ext cx="1662659" cy="1847060"/>
          </a:xfrm>
          <a:custGeom>
            <a:rect b="b" l="l" r="r" t="t"/>
            <a:pathLst>
              <a:path extrusionOk="0" h="3429000" w="3086667">
                <a:moveTo>
                  <a:pt x="2133985" y="0"/>
                </a:moveTo>
                <a:cubicBezTo>
                  <a:pt x="2428627" y="0"/>
                  <a:pt x="2709322" y="59714"/>
                  <a:pt x="2964628" y="167699"/>
                </a:cubicBezTo>
                <a:lnTo>
                  <a:pt x="3086667" y="226489"/>
                </a:lnTo>
                <a:lnTo>
                  <a:pt x="3086667" y="3429000"/>
                </a:lnTo>
                <a:lnTo>
                  <a:pt x="440639" y="3429000"/>
                </a:lnTo>
                <a:lnTo>
                  <a:pt x="364451" y="3327116"/>
                </a:lnTo>
                <a:cubicBezTo>
                  <a:pt x="134356" y="2986530"/>
                  <a:pt x="0" y="2575948"/>
                  <a:pt x="0" y="2133985"/>
                </a:cubicBezTo>
                <a:cubicBezTo>
                  <a:pt x="0" y="955418"/>
                  <a:pt x="955418" y="0"/>
                  <a:pt x="2133985" y="0"/>
                </a:cubicBezTo>
                <a:close/>
              </a:path>
            </a:pathLst>
          </a:custGeom>
          <a:solidFill>
            <a:srgbClr val="D6F1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4" name="Google Shape;184;p26"/>
          <p:cNvPicPr preferRelativeResize="0"/>
          <p:nvPr/>
        </p:nvPicPr>
        <p:blipFill rotWithShape="1">
          <a:blip r:embed="rId6">
            <a:alphaModFix/>
          </a:blip>
          <a:srcRect b="27347" l="11935" r="33955" t="10861"/>
          <a:stretch/>
        </p:blipFill>
        <p:spPr>
          <a:xfrm>
            <a:off x="7479351" y="3256499"/>
            <a:ext cx="1679401" cy="1893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582930" y="1261097"/>
            <a:ext cx="7994333" cy="33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7E46"/>
              </a:buClr>
              <a:buSzPts val="1500"/>
              <a:buNone/>
            </a:pPr>
            <a:r>
              <a:rPr b="1" lang="en-GB">
                <a:latin typeface="Gill Sans"/>
                <a:ea typeface="Gill Sans"/>
                <a:cs typeface="Gill Sans"/>
                <a:sym typeface="Gill Sans"/>
              </a:rPr>
              <a:t>What?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15900" lvl="1" marL="723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87E46"/>
              </a:buClr>
              <a:buSzPts val="1400"/>
              <a:buFont typeface="Arial"/>
              <a:buChar char="•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Analyze customer sentiments on Amazon fine food reviews using VADER, Logistic Regression and DistilBERT Sentiment Model.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rPr b="1" lang="en-GB">
                <a:latin typeface="Gill Sans"/>
                <a:ea typeface="Gill Sans"/>
                <a:cs typeface="Gill Sans"/>
                <a:sym typeface="Gill Sans"/>
              </a:rPr>
              <a:t>Why?</a:t>
            </a:r>
            <a:endParaRPr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5900" lvl="1" marL="723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87E46"/>
              </a:buClr>
              <a:buSzPts val="1400"/>
              <a:buFont typeface="Arial"/>
              <a:buChar char="•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To understand customer feedback for product improvements</a:t>
            </a:r>
            <a:endParaRPr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15900" lvl="1" marL="723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87E46"/>
              </a:buClr>
              <a:buSzPts val="1400"/>
              <a:buFont typeface="Arial"/>
              <a:buChar char="•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Performing sentiment analysis will help product owners understand customer satisfaction and dissatisfaction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500"/>
              <a:buNone/>
            </a:pPr>
            <a:r>
              <a:rPr b="1" lang="en-GB">
                <a:latin typeface="Gill Sans"/>
                <a:ea typeface="Gill Sans"/>
                <a:cs typeface="Gill Sans"/>
                <a:sym typeface="Gill Sans"/>
              </a:rPr>
              <a:t>How?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15900" lvl="1" marL="723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87E46"/>
              </a:buClr>
              <a:buSzPts val="1400"/>
              <a:buFont typeface="Arial"/>
              <a:buChar char="•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Use </a:t>
            </a:r>
            <a:r>
              <a:rPr b="1" lang="en-GB">
                <a:latin typeface="Gill Sans"/>
                <a:ea typeface="Gill Sans"/>
                <a:cs typeface="Gill Sans"/>
                <a:sym typeface="Gill Sans"/>
              </a:rPr>
              <a:t>VADER 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Model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15900" lvl="1" marL="723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87E46"/>
              </a:buClr>
              <a:buSzPts val="1400"/>
              <a:buFont typeface="Arial"/>
              <a:buChar char="•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Use </a:t>
            </a:r>
            <a:r>
              <a:rPr b="1" lang="en-GB">
                <a:latin typeface="Gill Sans"/>
                <a:ea typeface="Gill Sans"/>
                <a:cs typeface="Gill Sans"/>
                <a:sym typeface="Gill Sans"/>
              </a:rPr>
              <a:t>Logistic Regression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Model.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15900" lvl="1" marL="723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Gill Sans"/>
              <a:buChar char="•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Use </a:t>
            </a:r>
            <a:r>
              <a:rPr b="1" lang="en-GB">
                <a:latin typeface="Gill Sans"/>
                <a:ea typeface="Gill Sans"/>
                <a:cs typeface="Gill Sans"/>
                <a:sym typeface="Gill Sans"/>
              </a:rPr>
              <a:t>DistilBERT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Sentiment Model.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15900" lvl="1" marL="723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Gill Sans"/>
              <a:buChar char="•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Evaluate and c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ompare the results by all three models.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</a:pPr>
            <a:r>
              <a:rPr lang="en-GB"/>
              <a:t>Methodology</a:t>
            </a:r>
            <a:endParaRPr/>
          </a:p>
        </p:txBody>
      </p:sp>
      <p:grpSp>
        <p:nvGrpSpPr>
          <p:cNvPr id="196" name="Google Shape;196;p28"/>
          <p:cNvGrpSpPr/>
          <p:nvPr/>
        </p:nvGrpSpPr>
        <p:grpSpPr>
          <a:xfrm>
            <a:off x="666675" y="1355399"/>
            <a:ext cx="8107899" cy="2899122"/>
            <a:chOff x="125397" y="903536"/>
            <a:chExt cx="10810532" cy="3865496"/>
          </a:xfrm>
        </p:grpSpPr>
        <p:sp>
          <p:nvSpPr>
            <p:cNvPr id="197" name="Google Shape;197;p28"/>
            <p:cNvSpPr/>
            <p:nvPr/>
          </p:nvSpPr>
          <p:spPr>
            <a:xfrm>
              <a:off x="125397" y="903536"/>
              <a:ext cx="902268" cy="902268"/>
            </a:xfrm>
            <a:prstGeom prst="ellipse">
              <a:avLst/>
            </a:prstGeom>
            <a:solidFill>
              <a:srgbClr val="F4D9C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314873" y="1093012"/>
              <a:ext cx="523315" cy="52331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1221009" y="903536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8"/>
            <p:cNvSpPr txBox="1"/>
            <p:nvPr/>
          </p:nvSpPr>
          <p:spPr>
            <a:xfrm>
              <a:off x="1221009" y="903536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Step 1: Data Collection</a:t>
              </a:r>
              <a:endParaRPr sz="1100"/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3718360" y="903536"/>
              <a:ext cx="902268" cy="902268"/>
            </a:xfrm>
            <a:prstGeom prst="ellipse">
              <a:avLst/>
            </a:prstGeom>
            <a:solidFill>
              <a:srgbClr val="F4D9C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3907837" y="1093012"/>
              <a:ext cx="523315" cy="52331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4813972" y="903536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8"/>
            <p:cNvSpPr txBox="1"/>
            <p:nvPr/>
          </p:nvSpPr>
          <p:spPr>
            <a:xfrm>
              <a:off x="4813972" y="903536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Step 2: Data pre-processing</a:t>
              </a:r>
              <a:endParaRPr sz="1100"/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7311324" y="903536"/>
              <a:ext cx="902268" cy="902268"/>
            </a:xfrm>
            <a:prstGeom prst="ellipse">
              <a:avLst/>
            </a:prstGeom>
            <a:solidFill>
              <a:srgbClr val="F4D9C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7500800" y="1093012"/>
              <a:ext cx="523315" cy="52331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8406936" y="903536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8"/>
            <p:cNvSpPr txBox="1"/>
            <p:nvPr/>
          </p:nvSpPr>
          <p:spPr>
            <a:xfrm>
              <a:off x="8406936" y="903536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Step 3: Basic Exploratory Data Analysis</a:t>
              </a:r>
              <a:endParaRPr sz="1100"/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125397" y="2545532"/>
              <a:ext cx="902268" cy="902268"/>
            </a:xfrm>
            <a:prstGeom prst="ellipse">
              <a:avLst/>
            </a:prstGeom>
            <a:solidFill>
              <a:srgbClr val="F4D9C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314873" y="2735009"/>
              <a:ext cx="523315" cy="52331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1221009" y="2545532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8"/>
            <p:cNvSpPr txBox="1"/>
            <p:nvPr/>
          </p:nvSpPr>
          <p:spPr>
            <a:xfrm>
              <a:off x="1221009" y="2545532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Step 4: Applying VADER </a:t>
              </a: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</a:t>
              </a:r>
              <a:endParaRPr sz="1100"/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3718360" y="2545532"/>
              <a:ext cx="902268" cy="902268"/>
            </a:xfrm>
            <a:prstGeom prst="ellipse">
              <a:avLst/>
            </a:prstGeom>
            <a:solidFill>
              <a:srgbClr val="F4D9C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3907837" y="2735009"/>
              <a:ext cx="523315" cy="52331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4813972" y="2545532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8"/>
            <p:cNvSpPr txBox="1"/>
            <p:nvPr/>
          </p:nvSpPr>
          <p:spPr>
            <a:xfrm>
              <a:off x="4813972" y="2545532"/>
              <a:ext cx="2126776" cy="902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Step 5: Applying Logistic Regression Model</a:t>
              </a:r>
              <a:endParaRPr sz="1100"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3718357" y="3866632"/>
              <a:ext cx="902400" cy="902400"/>
            </a:xfrm>
            <a:prstGeom prst="ellipse">
              <a:avLst/>
            </a:prstGeom>
            <a:solidFill>
              <a:srgbClr val="F4D9CD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3907833" y="4056109"/>
              <a:ext cx="523200" cy="5232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8406929" y="2545537"/>
              <a:ext cx="2529000" cy="9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libri"/>
                  <a:ea typeface="Calibri"/>
                  <a:cs typeface="Calibri"/>
                  <a:sym typeface="Calibri"/>
                </a:rPr>
                <a:t>Step 6: Applying </a:t>
              </a:r>
              <a:r>
                <a:rPr lang="en-GB">
                  <a:latin typeface="Calibri"/>
                  <a:ea typeface="Calibri"/>
                  <a:cs typeface="Calibri"/>
                  <a:sym typeface="Calibri"/>
                </a:rPr>
                <a:t>DistilBERT Sentiment Model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8"/>
            <p:cNvSpPr txBox="1"/>
            <p:nvPr/>
          </p:nvSpPr>
          <p:spPr>
            <a:xfrm>
              <a:off x="4813986" y="3866565"/>
              <a:ext cx="2126700" cy="90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Step </a:t>
              </a: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0" i="0" lang="en-GB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Evaluating Results</a:t>
              </a:r>
              <a:endParaRPr sz="1100"/>
            </a:p>
          </p:txBody>
        </p:sp>
      </p:grpSp>
      <p:sp>
        <p:nvSpPr>
          <p:cNvPr id="221" name="Google Shape;221;p28"/>
          <p:cNvSpPr/>
          <p:nvPr/>
        </p:nvSpPr>
        <p:spPr>
          <a:xfrm>
            <a:off x="6093897" y="3265621"/>
            <a:ext cx="676800" cy="676800"/>
          </a:xfrm>
          <a:prstGeom prst="ellipse">
            <a:avLst/>
          </a:prstGeom>
          <a:solidFill>
            <a:srgbClr val="F4D9C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/>
          <p:nvPr/>
        </p:nvSpPr>
        <p:spPr>
          <a:xfrm>
            <a:off x="6236105" y="3407829"/>
            <a:ext cx="392400" cy="3924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574830" y="88069"/>
            <a:ext cx="7994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</a:pPr>
            <a:r>
              <a:rPr lang="en-GB" sz="3600"/>
              <a:t>VADER Model</a:t>
            </a:r>
            <a:endParaRPr sz="3600"/>
          </a:p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574825" y="1163725"/>
            <a:ext cx="8416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VADER (Valence Aware Dictionary and sEntiment Reasoner) is a rule-based sentiment analysis tool specifically designed to analyze social media texts.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None/>
            </a:pPr>
            <a:r>
              <a:t/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It is a pre-trained sentiment analysis model that provides sentiment scores for given text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762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None/>
            </a:pPr>
            <a:r>
              <a:t/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VADER has 4 categories positive, negative, neutral and compound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None/>
            </a:pPr>
            <a:r>
              <a:t/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Compound is a calculation of positive, negative and neutral score ranging between –1 to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None/>
            </a:pPr>
            <a:r>
              <a:t/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VADER is easily available as a part of the NLTK (Natural Language Toolkit) library in python. 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573859" y="119630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ill Sans"/>
              <a:buNone/>
            </a:pPr>
            <a:r>
              <a:rPr lang="en-GB"/>
              <a:t>Results by VADER Sentiment Analysis</a:t>
            </a:r>
            <a:endParaRPr/>
          </a:p>
        </p:txBody>
      </p:sp>
      <p:pic>
        <p:nvPicPr>
          <p:cNvPr descr="A graph with red and white squares&#10;&#10;Description automatically generated" id="234" name="Google Shape;2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8355" y="1119414"/>
            <a:ext cx="6456364" cy="34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3311826" y="4658134"/>
            <a:ext cx="34114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Figure 1: Exploratory Data Analysis</a:t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573859" y="183130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Gill Sans"/>
              <a:buNone/>
            </a:pPr>
            <a:r>
              <a:rPr lang="en-GB" sz="3700"/>
              <a:t>Results by VADER Sentiment Analysis</a:t>
            </a:r>
            <a:endParaRPr sz="3700">
              <a:solidFill>
                <a:srgbClr val="000000"/>
              </a:solidFill>
            </a:endParaRPr>
          </a:p>
        </p:txBody>
      </p:sp>
      <p:pic>
        <p:nvPicPr>
          <p:cNvPr descr="A chart of different colored bars&#10;&#10;Description automatically generated" id="241" name="Google Shape;2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571" y="1183691"/>
            <a:ext cx="8164286" cy="300290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/>
        </p:nvSpPr>
        <p:spPr>
          <a:xfrm>
            <a:off x="2380069" y="4352126"/>
            <a:ext cx="488489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Figure 2: Customer Rating vs VADER Sentiment Score</a:t>
            </a:r>
            <a:endParaRPr sz="1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573859" y="110558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Gill Sans"/>
              <a:buNone/>
            </a:pPr>
            <a:r>
              <a:rPr lang="en-GB" sz="3700"/>
              <a:t>Results by VADER Sentiment Analysis</a:t>
            </a:r>
            <a:endParaRPr sz="3700">
              <a:solidFill>
                <a:srgbClr val="000000"/>
              </a:solidFill>
            </a:endParaRPr>
          </a:p>
        </p:txBody>
      </p:sp>
      <p:pic>
        <p:nvPicPr>
          <p:cNvPr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2768" y="1105978"/>
            <a:ext cx="4387963" cy="3557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/>
        </p:nvSpPr>
        <p:spPr>
          <a:xfrm>
            <a:off x="2282776" y="4769450"/>
            <a:ext cx="4669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Figure 3: Customer Rating vs VADER </a:t>
            </a:r>
            <a:r>
              <a:rPr lang="en-GB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Compound</a:t>
            </a:r>
            <a:r>
              <a:rPr lang="en-GB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score</a:t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582930" y="273844"/>
            <a:ext cx="79944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90"/>
              <a:t>Logistic Regression Model for Sentiment Analysis</a:t>
            </a:r>
            <a:endParaRPr sz="3090"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582930" y="1420819"/>
            <a:ext cx="7994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Logistic Regression is a supervised machine learning model used for classification.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Review text is first converted into numerical features using TF-IDF vectorization.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TF-IDF gives higher importance to words that are meaningful in a review but not too common across all reviews.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The model learns patterns between review text and sentiment labels.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In this project, ratings were converted into sentiment classes, and Logistic Regression was trained to predict whether a review is positive or negative.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It works as a strong baseline model because it is fast, interpretable, and performs well on text classification tasks. 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582930" y="273844"/>
            <a:ext cx="79944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Results by Logistic Regression Model</a:t>
            </a:r>
            <a:endParaRPr sz="3600"/>
          </a:p>
        </p:txBody>
      </p:sp>
      <p:pic>
        <p:nvPicPr>
          <p:cNvPr descr="A screenshot of a computer&#10;&#10;Description automatically generated" id="261" name="Google Shape;2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9975" y="1991300"/>
            <a:ext cx="3697350" cy="20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 txBox="1"/>
          <p:nvPr/>
        </p:nvSpPr>
        <p:spPr>
          <a:xfrm>
            <a:off x="427600" y="1304788"/>
            <a:ext cx="4227000" cy="3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Logistic Regression achieved approximately 93% accuracy on the test data.</a:t>
            </a:r>
            <a:endParaRPr sz="17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The model performed very well on positive reviews, with high precision and recall.</a:t>
            </a:r>
            <a:endParaRPr sz="17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However, negative reviews were harder to classify compared to positive reviews. </a:t>
            </a:r>
            <a:endParaRPr sz="17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This may be due to the dataset containing higher positive reviews when compared to negative reviews. </a:t>
            </a:r>
            <a:endParaRPr sz="17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Logistic Regression served as a strong baseline model before comparing with transformer-based BERT analysis.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574830" y="171544"/>
            <a:ext cx="7994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90"/>
              <a:buFont typeface="Gill Sans"/>
              <a:buNone/>
            </a:pPr>
            <a:r>
              <a:rPr lang="en-GB" sz="2390"/>
              <a:t>Top 10 Highest and Lowest Sentiment Products using Logistic Regression Model</a:t>
            </a:r>
            <a:endParaRPr sz="2390"/>
          </a:p>
        </p:txBody>
      </p:sp>
      <p:pic>
        <p:nvPicPr>
          <p:cNvPr descr="A screenshot of a computer&#10;&#10;Description automatically generated" id="268" name="Google Shape;2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401" y="1167662"/>
            <a:ext cx="3864769" cy="3679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69" name="Google Shape;26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1613" y="1165736"/>
            <a:ext cx="3907631" cy="366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582930" y="273844"/>
            <a:ext cx="79944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90"/>
              <a:t>BERT Sentiment Analyzer (DistilBERT sentiment model)</a:t>
            </a:r>
            <a:endParaRPr sz="2690"/>
          </a:p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582930" y="1369219"/>
            <a:ext cx="7994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BERT is a transformer-based language model that understands the meaning of words based on context.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Unlike TF-IDF, BERT does not treat words as isolated tokens; it considers the full sentence structure.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A pretrained DistilBERT sentiment model was used to classify review text as positive or negative.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Since BERT was already trained on large text datasets, it was applied without fine-tuning due to CPU runtime limitations.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BERT provides both a sentiment label and a confidence score for each review.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This helps compare traditional sentiment methods with a modern transformer-based approach.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Note: Due to computational limitations DistilBERT was only applied on a sample dataset of 5000 rows.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574805" y="-6"/>
            <a:ext cx="79944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90"/>
              <a:t>Results by DistilBERT sentiment model </a:t>
            </a:r>
            <a:endParaRPr sz="3290"/>
          </a:p>
        </p:txBody>
      </p:sp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654650" y="930038"/>
            <a:ext cx="3258900" cy="130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Accuracy of DistilBERT Model: 0.8412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Evaluated rows: 4622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Positive F1-score: 0.90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Negative F1-score: 0.63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37"/>
          <p:cNvSpPr txBox="1"/>
          <p:nvPr>
            <p:ph idx="1" type="body"/>
          </p:nvPr>
        </p:nvSpPr>
        <p:spPr>
          <a:xfrm>
            <a:off x="4658400" y="3631500"/>
            <a:ext cx="3258900" cy="151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1700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Correctly identified most negative reviews (635 of 703)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184150" lvl="0" marL="177800" rtl="0" algn="l">
              <a:spcBef>
                <a:spcPts val="800"/>
              </a:spcBef>
              <a:spcAft>
                <a:spcPts val="0"/>
              </a:spcAft>
              <a:buSzPts val="1700"/>
              <a:buFont typeface="Gill Sans"/>
              <a:buChar char="•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Confidence scores were highly concentrated near 1.0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225" y="863600"/>
            <a:ext cx="3335550" cy="258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288" y="2239250"/>
            <a:ext cx="3197625" cy="237448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 txBox="1"/>
          <p:nvPr/>
        </p:nvSpPr>
        <p:spPr>
          <a:xfrm>
            <a:off x="2282775" y="4769450"/>
            <a:ext cx="5444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Figure </a:t>
            </a:r>
            <a:r>
              <a:rPr lang="en-GB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lang="en-GB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-GB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Confusion Matrix, Actual vs Predicted sentiment scores</a:t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/>
          <p:nvPr>
            <p:ph type="title"/>
          </p:nvPr>
        </p:nvSpPr>
        <p:spPr>
          <a:xfrm>
            <a:off x="582930" y="273844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</a:pPr>
            <a:r>
              <a:rPr lang="en-GB"/>
              <a:t>Results:</a:t>
            </a:r>
            <a:endParaRPr/>
          </a:p>
        </p:txBody>
      </p:sp>
      <p:sp>
        <p:nvSpPr>
          <p:cNvPr id="291" name="Google Shape;291;p38"/>
          <p:cNvSpPr txBox="1"/>
          <p:nvPr>
            <p:ph idx="1" type="body"/>
          </p:nvPr>
        </p:nvSpPr>
        <p:spPr>
          <a:xfrm>
            <a:off x="374400" y="1400175"/>
            <a:ext cx="4197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VADER Sentiment Analysis Accuracy: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Logistic Regression Analysis Accuracy: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29" y="1837166"/>
            <a:ext cx="2429555" cy="255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3" name="Google Shape;29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16" y="2662131"/>
            <a:ext cx="3971925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/>
        </p:nvSpPr>
        <p:spPr>
          <a:xfrm>
            <a:off x="5083650" y="1543625"/>
            <a:ext cx="3358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DistilBERT</a:t>
            </a:r>
            <a:r>
              <a:rPr lang="en-GB" sz="15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Model Analysis Accuracy: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5875" y="2092975"/>
            <a:ext cx="3783275" cy="21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573859" y="790916"/>
            <a:ext cx="7994333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</a:pPr>
            <a:r>
              <a:rPr lang="en-GB"/>
              <a:t>Conclusion and Future work</a:t>
            </a:r>
            <a:endParaRPr/>
          </a:p>
        </p:txBody>
      </p:sp>
      <p:sp>
        <p:nvSpPr>
          <p:cNvPr id="301" name="Google Shape;301;p39"/>
          <p:cNvSpPr txBox="1"/>
          <p:nvPr>
            <p:ph idx="1" type="body"/>
          </p:nvPr>
        </p:nvSpPr>
        <p:spPr>
          <a:xfrm>
            <a:off x="582930" y="2167505"/>
            <a:ext cx="7994333" cy="13131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7E46"/>
              </a:buClr>
              <a:buSzPts val="2100"/>
              <a:buNone/>
            </a:pPr>
            <a:r>
              <a:rPr lang="en-GB" sz="2100">
                <a:latin typeface="Gill Sans"/>
                <a:ea typeface="Gill Sans"/>
                <a:cs typeface="Gill Sans"/>
                <a:sym typeface="Gill Sans"/>
              </a:rPr>
              <a:t>Which model performed better and what could be the reason?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1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-GB" sz="2100">
                <a:latin typeface="Gill Sans"/>
                <a:ea typeface="Gill Sans"/>
                <a:cs typeface="Gill Sans"/>
                <a:sym typeface="Gill Sans"/>
              </a:rPr>
              <a:t>How can this work be used in future for better sentiment analysis?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67E44"/>
              </a:buClr>
              <a:buSzPts val="2100"/>
              <a:buNone/>
            </a:pPr>
            <a:r>
              <a:t/>
            </a:r>
            <a:endParaRPr sz="2100">
              <a:latin typeface="Gill Sans"/>
              <a:ea typeface="Gill Sans"/>
              <a:cs typeface="Gill Sans"/>
              <a:sym typeface="Gill Sans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87E46"/>
              </a:buClr>
              <a:buSzPts val="2100"/>
              <a:buNone/>
            </a:pPr>
            <a:r>
              <a:t/>
            </a:r>
            <a:endParaRPr sz="21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>
            <p:ph type="title"/>
          </p:nvPr>
        </p:nvSpPr>
        <p:spPr>
          <a:xfrm>
            <a:off x="2660287" y="1571058"/>
            <a:ext cx="3449548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Gill Sans"/>
              <a:buNone/>
            </a:pPr>
            <a:r>
              <a:rPr lang="en-GB"/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fettiVTI">
  <a:themeElements>
    <a:clrScheme name="AnalogousFromLightSeedRightStep">
      <a:dk1>
        <a:srgbClr val="000000"/>
      </a:dk1>
      <a:lt1>
        <a:srgbClr val="FFFFFF"/>
      </a:lt1>
      <a:dk2>
        <a:srgbClr val="293B21"/>
      </a:dk2>
      <a:lt2>
        <a:srgbClr val="E2E5E8"/>
      </a:lt2>
      <a:accent1>
        <a:srgbClr val="E48E45"/>
      </a:accent1>
      <a:accent2>
        <a:srgbClr val="B0A23F"/>
      </a:accent2>
      <a:accent3>
        <a:srgbClr val="92AC53"/>
      </a:accent3>
      <a:accent4>
        <a:srgbClr val="63B541"/>
      </a:accent4>
      <a:accent5>
        <a:srgbClr val="37BA47"/>
      </a:accent5>
      <a:accent6>
        <a:srgbClr val="3DB67E"/>
      </a:accent6>
      <a:hlink>
        <a:srgbClr val="5D85A7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